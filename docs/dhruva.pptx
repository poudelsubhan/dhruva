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86000"/>
            <a:ext cx="1463040" cy="28575"/>
          </a:xfrm>
          <a:prstGeom prst="rect">
            <a:avLst/>
          </a:prstGeom>
          <a:solidFill>
            <a:srgbClr val="35D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F2F4F8"/>
                </a:solidFill>
                <a:latin typeface="Helvetica Neue"/>
              </a:rPr>
              <a:t>Dhruva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>
                <a:solidFill>
                  <a:srgbClr val="35DCF2"/>
                </a:solidFill>
                <a:latin typeface="Helvetica Neue"/>
              </a:rPr>
              <a:t>Rollback without amnesia.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9AA4B8"/>
                </a:solidFill>
                <a:latin typeface="Helvetica Neue"/>
              </a:rPr>
              <a:t>A supervisor that catches an agent losing the plot, rolls it back —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9AA4B8"/>
                </a:solidFill>
                <a:latin typeface="Helvetica Neue"/>
              </a:rPr>
              <a:t>and keeps what it learned.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68C"/>
                </a:solidFill>
                <a:latin typeface="Courier New"/>
              </a:rPr>
              <a:t>Long Horizon Agents Build Day  ·  AGI 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68C"/>
                </a:solidFill>
                <a:latin typeface="Courier New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2F4F8"/>
                </a:solidFill>
                <a:latin typeface="Helvetica Neue"/>
              </a:rPr>
              <a:t>Long-horizon agents don't crash.</a:t>
            </a:r>
          </a:p>
          <a:p>
            <a:pPr algn="l">
              <a:lnSpc>
                <a:spcPct val="115000"/>
              </a:lnSpc>
            </a:pPr>
            <a:r>
              <a:rPr sz="5400" b="1">
                <a:solidFill>
                  <a:srgbClr val="F2F4F8"/>
                </a:solidFill>
                <a:latin typeface="Helvetica Neue"/>
              </a:rPr>
              <a:t>They drift.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9AA4B8"/>
                </a:solidFill>
                <a:latin typeface="Helvetica Neue"/>
              </a:rPr>
              <a:t>A tool lies. A constraint gets compacted away. The agent keeps working —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9AA4B8"/>
                </a:solidFill>
                <a:latin typeface="Helvetica Neue"/>
              </a:rPr>
              <a:t>confidently, on the wrong thing. You find out an hour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480560"/>
            <a:ext cx="1463040" cy="28575"/>
          </a:xfrm>
          <a:prstGeom prst="rect">
            <a:avLst/>
          </a:prstGeom>
          <a:solidFill>
            <a:srgbClr val="F541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54123"/>
                </a:solidFill>
                <a:latin typeface="Helvetica Neue"/>
              </a:rPr>
              <a:t>Rollback is the obvious fix. But rollback is lossy:</a:t>
            </a:r>
          </a:p>
          <a:p>
            <a:pPr algn="l">
              <a:lnSpc>
                <a:spcPct val="115000"/>
              </a:lnSpc>
            </a:pPr>
            <a:r>
              <a:rPr sz="2600" b="1">
                <a:solidFill>
                  <a:srgbClr val="F54123"/>
                </a:solidFill>
                <a:latin typeface="Helvetica Neue"/>
              </a:rPr>
              <a:t>it destroys everything the agent legitimately learned.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68C"/>
                </a:solidFill>
                <a:latin typeface="Courier New"/>
              </a:rPr>
              <a:t>THE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2F4F8"/>
                </a:solidFill>
                <a:latin typeface="Helvetica Neue"/>
              </a:rPr>
              <a:t>Separate work state from knowledge.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029200" cy="3108960"/>
          </a:xfrm>
          <a:prstGeom prst="roundRect">
            <a:avLst>
              <a:gd name="adj" fmla="val 4000"/>
            </a:avLst>
          </a:prstGeom>
          <a:solidFill>
            <a:srgbClr val="12151C"/>
          </a:solidFill>
          <a:ln w="12700">
            <a:solidFill>
              <a:srgbClr val="25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7744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B768C"/>
                </a:solidFill>
                <a:latin typeface="Courier New"/>
              </a:rPr>
              <a:t>WORK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80360"/>
            <a:ext cx="4480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2F4F8"/>
                </a:solidFill>
                <a:latin typeface="Helvetica Neue"/>
              </a:rPr>
              <a:t>Hash-chained checkpoints,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2F4F8"/>
                </a:solidFill>
                <a:latin typeface="Helvetica Neue"/>
              </a:rPr>
              <a:t>minted only on verified windows.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2F4F8"/>
                </a:solidFill>
                <a:latin typeface="Helvetica Neue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2F4F8"/>
                </a:solidFill>
                <a:latin typeface="Helvetica Neue"/>
              </a:rPr>
              <a:t>On breach: restored.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03120"/>
            <a:ext cx="5029200" cy="3108960"/>
          </a:xfrm>
          <a:prstGeom prst="roundRect">
            <a:avLst>
              <a:gd name="adj" fmla="val 4000"/>
            </a:avLst>
          </a:prstGeom>
          <a:solidFill>
            <a:srgbClr val="12151C"/>
          </a:solidFill>
          <a:ln w="12700">
            <a:solidFill>
              <a:srgbClr val="25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37744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5DCF2"/>
                </a:solidFill>
                <a:latin typeface="Courier New"/>
              </a:rPr>
              <a:t>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880360"/>
            <a:ext cx="4480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2F4F8"/>
                </a:solidFill>
                <a:latin typeface="Helvetica Neue"/>
              </a:rPr>
              <a:t>Append-only, taint-tracked.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2F4F8"/>
                </a:solidFill>
                <a:latin typeface="Helvetica Neue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2F4F8"/>
                </a:solidFill>
                <a:latin typeface="Helvetica Neue"/>
              </a:rPr>
              <a:t>On breach: kept — minus what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F2F4F8"/>
                </a:solidFill>
                <a:latin typeface="Helvetica Neue"/>
              </a:rPr>
              <a:t>provenance traces to the poison.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B768C"/>
                </a:solidFill>
                <a:latin typeface="Courier New"/>
              </a:rPr>
              <a:t>C = 0.6·alignment + 0.2·repetition + 0.2·progress     — two of three terms are arithmetic, not sampled.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43200"/>
            <a:ext cx="1463040" cy="28575"/>
          </a:xfrm>
          <a:prstGeom prst="rect">
            <a:avLst/>
          </a:prstGeom>
          <a:solidFill>
            <a:srgbClr val="35D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0" b="1">
                <a:solidFill>
                  <a:srgbClr val="F2F4F8"/>
                </a:solidFill>
                <a:latin typeface="Helvetica Neue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35DCF2"/>
                </a:solidFill>
                <a:latin typeface="Helvetica Neue"/>
              </a:rPr>
              <a:t>A real run. Replayed from its own event 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68C"/>
                </a:solidFill>
                <a:latin typeface="Courier New"/>
              </a:rPr>
              <a:t>THE RESULT  ·  IDENTICAL TASK, IDENTICAL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2F4F8"/>
                </a:solidFill>
                <a:latin typeface="Helvetica Neue"/>
              </a:rPr>
              <a:t>The only variable is whether the supervisor may 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5029200" cy="2651760"/>
          </a:xfrm>
          <a:prstGeom prst="roundRect">
            <a:avLst>
              <a:gd name="adj" fmla="val 4000"/>
            </a:avLst>
          </a:prstGeom>
          <a:solidFill>
            <a:srgbClr val="12151C"/>
          </a:solidFill>
          <a:ln w="12700">
            <a:solidFill>
              <a:srgbClr val="25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4688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5DCF2"/>
                </a:solidFill>
                <a:latin typeface="Courier New"/>
              </a:rPr>
              <a:t>SUPERVISED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80"/>
            <a:ext cx="4480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4AD991"/>
                </a:solidFill>
                <a:latin typeface="Helvetica Neue"/>
              </a:rPr>
              <a:t>12/12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11480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9AA4B8"/>
                </a:solidFill>
                <a:latin typeface="Helvetica Neue"/>
              </a:rPr>
              <a:t>1 breach · 1 rollback · recovered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029200" cy="2651760"/>
          </a:xfrm>
          <a:prstGeom prst="roundRect">
            <a:avLst>
              <a:gd name="adj" fmla="val 4000"/>
            </a:avLst>
          </a:prstGeom>
          <a:solidFill>
            <a:srgbClr val="12151C"/>
          </a:solidFill>
          <a:ln w="12700">
            <a:solidFill>
              <a:srgbClr val="252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4688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54123"/>
                </a:solidFill>
                <a:latin typeface="Courier New"/>
              </a:rPr>
              <a:t>UNSUPERVISED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926080"/>
            <a:ext cx="4480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54123"/>
                </a:solidFill>
                <a:latin typeface="Helvetica Neue"/>
              </a:rPr>
              <a:t>0/12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1480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9AA4B8"/>
                </a:solidFill>
                <a:latin typeface="Helvetica Neue"/>
              </a:rPr>
              <a:t>2 breaches detected · 0 rollbacks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9AA4B8"/>
                </a:solidFill>
                <a:latin typeface="Helvetica Neue"/>
              </a:rPr>
              <a:t>The control arm is not blind. It scores the drift identically —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9AA4B8"/>
                </a:solidFill>
                <a:latin typeface="Helvetica Neue"/>
              </a:rPr>
              <a:t>it just never intervenes.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68C"/>
                </a:solidFill>
                <a:latin typeface="Courier New"/>
              </a:rPr>
              <a:t>THE CLAIM,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2F4F8"/>
                </a:solidFill>
                <a:latin typeface="Helvetica Neue"/>
              </a:rPr>
              <a:t>Eviction has to be precise, or it's just amnesia.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68C"/>
                </a:solidFill>
                <a:latin typeface="Courier New"/>
              </a:rPr>
              <a:t>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228600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6B768C"/>
                </a:solidFill>
                <a:latin typeface="Courier New"/>
              </a:rPr>
              <a:t>kept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28600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6B768C"/>
                </a:solidFill>
                <a:latin typeface="Courier New"/>
              </a:rPr>
              <a:t>clean lost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228600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6B768C"/>
                </a:solidFill>
                <a:latin typeface="Courier New"/>
              </a:rPr>
              <a:t>poisoned kept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44368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9AA4B8"/>
                </a:solidFill>
                <a:latin typeface="Courier New"/>
              </a:rPr>
              <a:t>keep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94436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9AA4B8"/>
                </a:solidFill>
                <a:latin typeface="Courier New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94436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9AA4B8"/>
                </a:solidFill>
                <a:latin typeface="Courier New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94436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9AA4B8"/>
                </a:solidFill>
                <a:latin typeface="Courier New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02736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9AA4B8"/>
                </a:solidFill>
                <a:latin typeface="Courier New"/>
              </a:rPr>
              <a:t>evict the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602736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9AA4B8"/>
                </a:solidFill>
                <a:latin typeface="Courier New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602736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9AA4B8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602736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9AA4B8"/>
                </a:solidFill>
                <a:latin typeface="Courier New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61104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4AD991"/>
                </a:solidFill>
                <a:latin typeface="Courier New"/>
              </a:rPr>
              <a:t>by provenance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261104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4AD991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261104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4AD991"/>
                </a:solidFill>
                <a:latin typeface="Courier New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261104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4AD991"/>
                </a:solidFill>
                <a:latin typeface="Courier New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4B8"/>
                </a:solidFill>
                <a:latin typeface="Helvetica Neue"/>
              </a:rPr>
              <a:t>Evicting the whole discarded range — what rollback means without provenance —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9AA4B8"/>
                </a:solidFill>
                <a:latin typeface="Helvetica Neue"/>
              </a:rPr>
              <a:t>destroys knowledge the agent earned. Keeping everything carries the lie forward.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011680"/>
            <a:ext cx="1463040" cy="28575"/>
          </a:xfrm>
          <a:prstGeom prst="rect">
            <a:avLst/>
          </a:prstGeom>
          <a:solidFill>
            <a:srgbClr val="35D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F2F4F8"/>
                </a:solidFill>
                <a:latin typeface="Helvetica Neue"/>
              </a:rPr>
              <a:t>Framework-agnostic.</a:t>
            </a:r>
          </a:p>
          <a:p>
            <a:pPr algn="l">
              <a:lnSpc>
                <a:spcPct val="125000"/>
              </a:lnSpc>
            </a:pPr>
            <a:r>
              <a:rPr sz="4400" b="1">
                <a:solidFill>
                  <a:srgbClr val="F2F4F8"/>
                </a:solidFill>
                <a:latin typeface="Helvetica Neue"/>
              </a:rPr>
              <a:t>Three adapter seams.</a:t>
            </a:r>
          </a:p>
          <a:p>
            <a:pPr algn="l">
              <a:lnSpc>
                <a:spcPct val="125000"/>
              </a:lnSpc>
            </a:pPr>
            <a:r>
              <a:rPr sz="4400" b="1">
                <a:solidFill>
                  <a:srgbClr val="F2F4F8"/>
                </a:solidFill>
                <a:latin typeface="Helvetica Neue"/>
              </a:rPr>
              <a:t>One append-only event log.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9AA4B8"/>
                </a:solidFill>
                <a:latin typeface="Helvetica Neue"/>
              </a:rPr>
              <a:t>Everything you saw — live view, provenance graph, twin, replay —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9AA4B8"/>
                </a:solidFill>
                <a:latin typeface="Helvetica Neue"/>
              </a:rPr>
              <a:t>derives from that one 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5DCF2"/>
                </a:solidFill>
                <a:latin typeface="Courier New"/>
              </a:rPr>
              <a:t>github.com/poudelsubhan/dhruva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